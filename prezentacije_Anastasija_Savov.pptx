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763722b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763722b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763722b6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763722b6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763722b6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763722b6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63722b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763722b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63722b6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763722b6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63722b6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63722b6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63722b6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63722b6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763722b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763722b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763722b6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763722b6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763722b6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763722b6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63722b6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763722b6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763722b6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763722b6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8ae66ab5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8ae66ab5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763722b6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763722b6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763722b68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763722b6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763722b6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763722b6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763722b6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763722b6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8ae66ab5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8ae66ab5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763722b6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763722b6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763722b6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763722b6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763722b6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763722b6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763722b68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763722b68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8ae66ab5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8ae66ab5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763722b68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763722b68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763722b68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763722b68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predicate pushdown- </a:t>
            </a:r>
            <a:r>
              <a:rPr lang="en"/>
              <a:t>$match faze se pomeraju ²to je bliºe izvoru dokumenata, omogu¢avaju¢i ltriranje preko indeksa u IXSCAN fazi umesto u memoriji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Sort-merge</a:t>
            </a:r>
            <a:r>
              <a:rPr lang="en"/>
              <a:t> - Ako postoji kompozitni pokrivajuci indeks i lter ($match) i redosled ($sort), blokiraju¢a SORT faza se elimini²e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Projection pushdown</a:t>
            </a:r>
            <a:r>
              <a:rPr lang="en"/>
              <a:t>- $project i $unset faze koje odbacuju polja prenose se na gore,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Spajanje uzastopnih faza</a:t>
            </a:r>
            <a:r>
              <a:rPr lang="en"/>
              <a:t>- Dve uzastopne $match faze spajaju se u jednu logi£ kom konjunkcijom; $limit posle $sort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763722b6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763722b6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763722b68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763722b6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763722b68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763722b68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763722b68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763722b68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concert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‘ </a:t>
            </a:r>
            <a:r>
              <a:rPr lang="en"/>
              <a:t>Vra¢a najnovije podatke dostupne na £voru, bez garancije da su replicirani.Podrazumevani nivo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Majority - vraca samo podatke koji su potvrdjeni od strane vecinskog broja replica seta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Linearizable - garantuje da citanje odrazava sve uspesno potvrdjene operacije pisanja pre pocetka citanja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Snapshot- koristi se u vise documentnim transakcijama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763722b68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763722b68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Snapshot ‘ ona vidi konzistentan snimak (snapshot) podataka od trenutka po£etka transakcije.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Dirty read - podaci nisu pouzdano azurn jer je moguce da su se u nekom momentu citanja izmenili, ali nije jos commitovano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repeatable read - cita se podatak i svaki put se dovclaci novi podatak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Phantom read - potencijalno podatak vise ne postoji koji se procita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763722b68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763722b68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763722b68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763722b68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763722b68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763722b68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- Deljeni lock za £itanje. Vi²e operacija moºe istovre meno drºati S lock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- Ekskluzivni lock za pisanje. Samo jedna operacija moºe drºati X lock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 SHARE </a:t>
            </a:r>
            <a:r>
              <a:rPr lang="en"/>
              <a:t>Namera za £itanje na niºem nivou hijerarhije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 exclusive - Namera za pisanje na niºem nivou hijerarhije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763722b68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763722b68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763722b68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763722b68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763722b68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763722b68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763722b6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763722b6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763722b68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d763722b68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763722b68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763722b68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763722b68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763722b68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763722b68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763722b68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763722b68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d763722b68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763722b68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d763722b68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763722b68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d763722b68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763722b68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d763722b68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763722b68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d763722b68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763722b68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d763722b68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763722b68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d763722b68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763722b68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d763722b68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763722b68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d763722b68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763722b68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763722b68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763722b6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763722b6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Relationship Id="rId4" Type="http://schemas.openxmlformats.org/officeDocument/2006/relationships/image" Target="../media/image4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Relationship Id="rId4" Type="http://schemas.openxmlformats.org/officeDocument/2006/relationships/image" Target="../media/image51.png"/><Relationship Id="rId5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0275" y="2659775"/>
            <a:ext cx="2483725" cy="2483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208075"/>
            <a:ext cx="8520600" cy="321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D3082"/>
                </a:solidFill>
                <a:latin typeface="Consolas"/>
                <a:ea typeface="Consolas"/>
                <a:cs typeface="Consolas"/>
                <a:sym typeface="Consolas"/>
              </a:rPr>
              <a:t>Fizičko projektovanje baze i optimizacija</a:t>
            </a:r>
            <a:endParaRPr b="1" sz="4000">
              <a:solidFill>
                <a:srgbClr val="1D308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D3082"/>
                </a:solidFill>
                <a:latin typeface="Consolas"/>
                <a:ea typeface="Consolas"/>
                <a:cs typeface="Consolas"/>
                <a:sym typeface="Consolas"/>
              </a:rPr>
              <a:t>podataka u </a:t>
            </a:r>
            <a:r>
              <a:rPr b="1" lang="en" sz="4000">
                <a:solidFill>
                  <a:schemeClr val="lt1"/>
                </a:solidFill>
                <a:highlight>
                  <a:srgbClr val="1D3082"/>
                </a:highlight>
                <a:latin typeface="Consolas"/>
                <a:ea typeface="Consolas"/>
                <a:cs typeface="Consolas"/>
                <a:sym typeface="Consolas"/>
              </a:rPr>
              <a:t>MS SQL</a:t>
            </a:r>
            <a:r>
              <a:rPr b="1" lang="en" sz="4000">
                <a:solidFill>
                  <a:srgbClr val="1D3082"/>
                </a:solidFill>
                <a:latin typeface="Consolas"/>
                <a:ea typeface="Consolas"/>
                <a:cs typeface="Consolas"/>
                <a:sym typeface="Consolas"/>
              </a:rPr>
              <a:t> bazi podataka</a:t>
            </a:r>
            <a:endParaRPr b="1" sz="4000">
              <a:solidFill>
                <a:srgbClr val="1D308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932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highlight>
                  <a:srgbClr val="3F9FEE"/>
                </a:highlight>
                <a:latin typeface="Consolas"/>
                <a:ea typeface="Consolas"/>
                <a:cs typeface="Consolas"/>
                <a:sym typeface="Consolas"/>
              </a:rPr>
              <a:t>Anastasija Savov</a:t>
            </a:r>
            <a:r>
              <a:rPr b="1" lang="en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3F9FEE"/>
                </a:solidFill>
                <a:latin typeface="Consolas"/>
                <a:ea typeface="Consolas"/>
                <a:cs typeface="Consolas"/>
                <a:sym typeface="Consolas"/>
              </a:rPr>
              <a:t>1924</a:t>
            </a:r>
            <a:endParaRPr b="1">
              <a:solidFill>
                <a:srgbClr val="3F9FE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stranice_i_extent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875" y="3025876"/>
            <a:ext cx="6710750" cy="17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61100" y="1619450"/>
            <a:ext cx="8315400" cy="3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Stranice </a:t>
            </a:r>
            <a:r>
              <a:rPr lang="en" sz="1600">
                <a:solidFill>
                  <a:schemeClr val="dk1"/>
                </a:solidFill>
              </a:rPr>
              <a:t>- osnovna jedinica skladištenja IO operacija, fiksna veličina 8KB (96B zauzima header); mogu biti index, data, LOB, GAM, IAM, PFS stranice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Extent-i</a:t>
            </a:r>
            <a:r>
              <a:rPr lang="en" sz="1600">
                <a:solidFill>
                  <a:schemeClr val="dk1"/>
                </a:solidFill>
              </a:rPr>
              <a:t> (grupa 8 uzastopnih stranica): mogu biti </a:t>
            </a:r>
            <a:r>
              <a:rPr b="1" lang="en" sz="1600">
                <a:solidFill>
                  <a:schemeClr val="dk1"/>
                </a:solidFill>
              </a:rPr>
              <a:t>uniformni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i </a:t>
            </a:r>
            <a:r>
              <a:rPr b="1" lang="en" sz="1600">
                <a:solidFill>
                  <a:schemeClr val="dk1"/>
                </a:solidFill>
              </a:rPr>
              <a:t>razmešani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Kako su organizovani podaci u memoriji?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900" y="-12"/>
            <a:ext cx="308610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 redovima (</a:t>
            </a:r>
            <a:r>
              <a:rPr b="1" lang="en" sz="1600">
                <a:solidFill>
                  <a:schemeClr val="dk1"/>
                </a:solidFill>
              </a:rPr>
              <a:t>row-store</a:t>
            </a:r>
            <a:r>
              <a:rPr lang="en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Prednosti: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Efikasne OLTP operacije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INSERT, UPDATE, DELETE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Mane: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Ograničena kompresija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Neefikasna za analitičke upite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 kolonama (</a:t>
            </a:r>
            <a:r>
              <a:rPr b="1" lang="en" sz="1600">
                <a:solidFill>
                  <a:schemeClr val="dk1"/>
                </a:solidFill>
              </a:rPr>
              <a:t>column-store</a:t>
            </a:r>
            <a:r>
              <a:rPr lang="en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Prednosti: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Batch processing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Mane: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Delta store overhead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32160" l="3693" r="3275" t="27105"/>
          <a:stretch/>
        </p:blipFill>
        <p:spPr>
          <a:xfrm>
            <a:off x="4913125" y="3654525"/>
            <a:ext cx="3968975" cy="13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B3F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Koje su vrste skladišta?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listing2.png"/>
          <p:cNvPicPr preferRelativeResize="0"/>
          <p:nvPr/>
        </p:nvPicPr>
        <p:blipFill rotWithShape="1">
          <a:blip r:embed="rId3">
            <a:alphaModFix/>
          </a:blip>
          <a:srcRect b="6112" l="2141" r="3971" t="0"/>
          <a:stretch/>
        </p:blipFill>
        <p:spPr>
          <a:xfrm>
            <a:off x="279687" y="2078425"/>
            <a:ext cx="8584625" cy="2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775" y="445625"/>
            <a:ext cx="54292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0" r="0" t="2143"/>
          <a:stretch/>
        </p:blipFill>
        <p:spPr>
          <a:xfrm>
            <a:off x="5644675" y="3067200"/>
            <a:ext cx="3499324" cy="20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 tabela 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tabela bez klasterovanog indeksa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Redovi se dodaju na prvu dostupnu lokaciju bez sortiranja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Forwarding pointer</a:t>
            </a:r>
            <a:r>
              <a:rPr lang="en" sz="1600">
                <a:solidFill>
                  <a:schemeClr val="dk1"/>
                </a:solidFill>
              </a:rPr>
              <a:t> - kada se red doda i ne stane na originalnu stranicu, kreira se pokazivač na novu lokaciju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Lokacija svakog reda se identikuje putem </a:t>
            </a:r>
            <a:r>
              <a:rPr b="1" lang="en" sz="1600">
                <a:solidFill>
                  <a:schemeClr val="dk1"/>
                </a:solidFill>
              </a:rPr>
              <a:t>RID </a:t>
            </a:r>
            <a:r>
              <a:rPr lang="en" sz="1600">
                <a:solidFill>
                  <a:schemeClr val="dk1"/>
                </a:solidFill>
              </a:rPr>
              <a:t>(Row Identier) koji se sastoji od FileID:PageID:SlotID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Klasterovana tabela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Nema forwarding pointer problema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Koriste klasterovani ključ kao pokazivač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Range scan</a:t>
            </a:r>
            <a:r>
              <a:rPr lang="en" sz="1600">
                <a:solidFill>
                  <a:schemeClr val="dk1"/>
                </a:solidFill>
              </a:rPr>
              <a:t> je veoma ekasan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16143" l="0" r="0" t="0"/>
          <a:stretch/>
        </p:blipFill>
        <p:spPr>
          <a:xfrm>
            <a:off x="6150375" y="297723"/>
            <a:ext cx="2867025" cy="160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 i klasterovane tabele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700" y="773750"/>
            <a:ext cx="7004599" cy="28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listing3.png"/>
          <p:cNvPicPr preferRelativeResize="0"/>
          <p:nvPr/>
        </p:nvPicPr>
        <p:blipFill rotWithShape="1">
          <a:blip r:embed="rId4">
            <a:alphaModFix/>
          </a:blip>
          <a:srcRect b="0" l="2382" r="0" t="0"/>
          <a:stretch/>
        </p:blipFill>
        <p:spPr>
          <a:xfrm>
            <a:off x="2226438" y="3787025"/>
            <a:ext cx="4691125" cy="12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1643375" y="157150"/>
            <a:ext cx="66132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Problem forwarding pointer-a kod heap tabele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4772700" cy="3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ROW </a:t>
            </a:r>
            <a:r>
              <a:rPr lang="en" sz="1600">
                <a:solidFill>
                  <a:schemeClr val="dk1"/>
                </a:solidFill>
              </a:rPr>
              <a:t>kompresija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Fiksni tipovi podataka se čuvaju u formatu promenljive dužine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NULL i neke numeričke vrednosti (npr. 0) mogu zauzimati 0 bajta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svaki red se kompresuje nezavisno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PAGE </a:t>
            </a:r>
            <a:r>
              <a:rPr lang="en" sz="1600">
                <a:solidFill>
                  <a:schemeClr val="dk1"/>
                </a:solidFill>
              </a:rPr>
              <a:t>kompresija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Prefix kompresija: </a:t>
            </a:r>
            <a:r>
              <a:rPr lang="en" sz="1600">
                <a:solidFill>
                  <a:schemeClr val="dk1"/>
                </a:solidFill>
              </a:rPr>
              <a:t>zajednički prefiksi se izdvajaju i referenciraju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Dictionary kompresija: ponavljajući obrasci na stranici se zamenjuju kraćim referencama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Veća kompresija + veći CPU overhead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FED1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Kompresija podataka</a:t>
            </a:r>
            <a:endParaRPr b="1"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36661" r="0" t="20616"/>
          <a:stretch/>
        </p:blipFill>
        <p:spPr>
          <a:xfrm>
            <a:off x="5084400" y="2779975"/>
            <a:ext cx="3922824" cy="22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597" r="71087" t="20616"/>
          <a:stretch/>
        </p:blipFill>
        <p:spPr>
          <a:xfrm>
            <a:off x="6066275" y="524350"/>
            <a:ext cx="1753650" cy="22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 title="bez_kompresije.png"/>
          <p:cNvPicPr preferRelativeResize="0"/>
          <p:nvPr/>
        </p:nvPicPr>
        <p:blipFill rotWithShape="1">
          <a:blip r:embed="rId3">
            <a:alphaModFix/>
          </a:blip>
          <a:srcRect b="0" l="4580" r="0" t="17314"/>
          <a:stretch/>
        </p:blipFill>
        <p:spPr>
          <a:xfrm>
            <a:off x="0" y="0"/>
            <a:ext cx="5823531" cy="17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 title="page_kompresij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28175"/>
            <a:ext cx="5984625" cy="141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row_kompresija.png"/>
          <p:cNvPicPr preferRelativeResize="0"/>
          <p:nvPr/>
        </p:nvPicPr>
        <p:blipFill rotWithShape="1">
          <a:blip r:embed="rId5">
            <a:alphaModFix/>
          </a:blip>
          <a:srcRect b="22074" l="1999" r="0" t="14386"/>
          <a:stretch/>
        </p:blipFill>
        <p:spPr>
          <a:xfrm>
            <a:off x="3099225" y="1823950"/>
            <a:ext cx="6044775" cy="151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423275" y="2320913"/>
            <a:ext cx="2298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ROW </a:t>
            </a:r>
            <a:r>
              <a:rPr lang="en" sz="1800">
                <a:solidFill>
                  <a:schemeClr val="dk1"/>
                </a:solidFill>
              </a:rPr>
              <a:t>kompresija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6260425" y="4073938"/>
            <a:ext cx="2298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PAGE </a:t>
            </a:r>
            <a:r>
              <a:rPr lang="en" sz="1800">
                <a:solidFill>
                  <a:schemeClr val="dk1"/>
                </a:solidFill>
              </a:rPr>
              <a:t>kompresija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6073600" y="464550"/>
            <a:ext cx="2298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 kompresije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Skup upita i UPDATE operacija koje sistem treba da podrži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Za svaki upit potrebno je odrediti: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Kojim se relacijama (tabelama) pristupa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Koji se atributi traže u </a:t>
            </a:r>
            <a:r>
              <a:rPr b="1" lang="en">
                <a:solidFill>
                  <a:schemeClr val="dk1"/>
                </a:solidFill>
              </a:rPr>
              <a:t>SELECT </a:t>
            </a:r>
            <a:r>
              <a:rPr lang="en">
                <a:solidFill>
                  <a:schemeClr val="dk1"/>
                </a:solidFill>
              </a:rPr>
              <a:t>iskazu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Nad kojim atributima se vrši spajanje ili selekcija u </a:t>
            </a:r>
            <a:r>
              <a:rPr b="1" lang="en">
                <a:solidFill>
                  <a:schemeClr val="dk1"/>
                </a:solidFill>
              </a:rPr>
              <a:t>WHERE </a:t>
            </a:r>
            <a:r>
              <a:rPr lang="en">
                <a:solidFill>
                  <a:schemeClr val="dk1"/>
                </a:solidFill>
              </a:rPr>
              <a:t>iskazu i koliko su ti uslovi selektivni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Koliko se </a:t>
            </a:r>
            <a:r>
              <a:rPr b="1" lang="en">
                <a:solidFill>
                  <a:schemeClr val="dk1"/>
                </a:solidFill>
              </a:rPr>
              <a:t>često</a:t>
            </a:r>
            <a:r>
              <a:rPr lang="en">
                <a:solidFill>
                  <a:schemeClr val="dk1"/>
                </a:solidFill>
              </a:rPr>
              <a:t> upit izvršava (učestalost) i da li je vremenski kritičan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Radno opterećenje (workload)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Na osnovu analize odluke koje treba da se donesu su: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Koje indekse napraviti - Koje relacije indeksirati, koja polja izabrati za klju£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pretrage, da li indeks treba biti klasterovan ili ne, redak ili gust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Da li menjati konceptualnu shemu - Razmotriti denormalizaciju, vertikalno particionisanje ili uvođenje pogleda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Da li preformulisati upite - često izvršavani upiti mogu biti preformulisani tako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da budu efikasniji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Radno opterećenje - odluke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5142700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7300" y="-167325"/>
            <a:ext cx="5844734" cy="19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8300" y="1801722"/>
            <a:ext cx="5233026" cy="17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" y="3593125"/>
            <a:ext cx="4757100" cy="15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5833825" y="508000"/>
            <a:ext cx="28155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Range filter umesto pozivanja funkcije nad kolonom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1679750" y="2362775"/>
            <a:ext cx="24204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Selektovanje odredjenih kolona umesto svih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849075" y="4033650"/>
            <a:ext cx="28155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Uklanjanje konverzije - uskladjivanje tipova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977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1D3082"/>
                </a:solidFill>
              </a:rPr>
              <a:t>Izbor tipova podataka</a:t>
            </a:r>
            <a:endParaRPr b="1">
              <a:solidFill>
                <a:srgbClr val="1D3082"/>
              </a:solidFill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Projektovanje tabela i relacija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3300" y="1386650"/>
            <a:ext cx="6444000" cy="370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3082"/>
                </a:solidFill>
              </a:rPr>
              <a:t>Ograničenja</a:t>
            </a:r>
            <a:endParaRPr b="1">
              <a:solidFill>
                <a:srgbClr val="1D308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Definisati kolone kao </a:t>
            </a:r>
            <a:r>
              <a:rPr b="1" lang="en">
                <a:solidFill>
                  <a:schemeClr val="dk1"/>
                </a:solidFill>
              </a:rPr>
              <a:t>NOT NULL</a:t>
            </a:r>
            <a:r>
              <a:rPr lang="en">
                <a:solidFill>
                  <a:schemeClr val="dk1"/>
                </a:solidFill>
              </a:rPr>
              <a:t> gde god je moguće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CHECK </a:t>
            </a:r>
            <a:r>
              <a:rPr lang="en">
                <a:solidFill>
                  <a:schemeClr val="dk1"/>
                </a:solidFill>
              </a:rPr>
              <a:t>ograničenja - Ograničavaju dozvoljene vrednosti kolone. Optimizator može koristiti CHECK ograničenja za eliminaciju nepotrebnih particija ili preskakanje delova podataka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DEFAULT </a:t>
            </a:r>
            <a:r>
              <a:rPr lang="en">
                <a:solidFill>
                  <a:schemeClr val="dk1"/>
                </a:solidFill>
              </a:rPr>
              <a:t>vrednosti - Obezbeđuju da kolone imaju smislenu početnu vrednost, smanjujući pojavu NULL vrednosti i pojednostavljujući INSERT operacije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UNIQUE </a:t>
            </a:r>
            <a:r>
              <a:rPr lang="en">
                <a:solidFill>
                  <a:schemeClr val="dk1"/>
                </a:solidFill>
              </a:rPr>
              <a:t>ograničenja - Garantuju jedinstvenost vrednosti i implicitno kreiraju neklasterovani indeks, koji se može koristiti za brzo pretraživanje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Projektovanje tabela i relacija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53100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20">
                <a:solidFill>
                  <a:srgbClr val="1D3082"/>
                </a:solidFill>
                <a:latin typeface="Consolas"/>
                <a:ea typeface="Consolas"/>
                <a:cs typeface="Consolas"/>
                <a:sym typeface="Consolas"/>
              </a:rPr>
              <a:t>Primeri raznih ograničenja</a:t>
            </a:r>
            <a:endParaRPr b="1" sz="2120">
              <a:solidFill>
                <a:srgbClr val="1D308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485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285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3082"/>
                </a:solidFill>
              </a:rPr>
              <a:t>Projektovanje primarnog i stranog ključa</a:t>
            </a:r>
            <a:endParaRPr b="1">
              <a:solidFill>
                <a:srgbClr val="1D308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Prirodni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Surogat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Kompozitni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Radno opterećenje - podešavanje upita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70924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0331" y="992425"/>
            <a:ext cx="5695794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152475"/>
            <a:ext cx="298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3082"/>
                </a:solidFill>
              </a:rPr>
              <a:t>Particionisanje tabela</a:t>
            </a:r>
            <a:endParaRPr b="1">
              <a:solidFill>
                <a:srgbClr val="1D308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RANGE </a:t>
            </a:r>
            <a:r>
              <a:rPr lang="en">
                <a:solidFill>
                  <a:schemeClr val="dk1"/>
                </a:solidFill>
              </a:rPr>
              <a:t>particionisanje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HASH</a:t>
            </a:r>
            <a:r>
              <a:rPr lang="en">
                <a:solidFill>
                  <a:schemeClr val="dk1"/>
                </a:solidFill>
              </a:rPr>
              <a:t> i </a:t>
            </a:r>
            <a:r>
              <a:rPr b="1" lang="en">
                <a:solidFill>
                  <a:schemeClr val="dk1"/>
                </a:solidFill>
              </a:rPr>
              <a:t>LIST </a:t>
            </a:r>
            <a:r>
              <a:rPr lang="en">
                <a:solidFill>
                  <a:schemeClr val="dk1"/>
                </a:solidFill>
              </a:rPr>
              <a:t>particionisanje nisu podržani u SQL serveru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Projektovanje tabela i relacija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3709500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 rotWithShape="1">
          <a:blip r:embed="rId3">
            <a:alphaModFix/>
          </a:blip>
          <a:srcRect b="4798" l="0" r="0" t="0"/>
          <a:stretch/>
        </p:blipFill>
        <p:spPr>
          <a:xfrm>
            <a:off x="3294900" y="933550"/>
            <a:ext cx="5712949" cy="352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particije_po_godinama.png"/>
          <p:cNvPicPr preferRelativeResize="0"/>
          <p:nvPr/>
        </p:nvPicPr>
        <p:blipFill rotWithShape="1">
          <a:blip r:embed="rId4">
            <a:alphaModFix/>
          </a:blip>
          <a:srcRect b="0" l="0" r="22941" t="0"/>
          <a:stretch/>
        </p:blipFill>
        <p:spPr>
          <a:xfrm>
            <a:off x="0" y="3734550"/>
            <a:ext cx="320025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152475"/>
            <a:ext cx="8206800" cy="3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3082"/>
                </a:solidFill>
              </a:rPr>
              <a:t>Preporuke </a:t>
            </a:r>
            <a:endParaRPr b="1">
              <a:solidFill>
                <a:srgbClr val="1D308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Koristiti najmanje moguće tipove podataka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Koristiti ograničenja (NOT NULL, CHECK, DEFAULT, UNIQUE)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Particionisati velike tabele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Izbor normalne forme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Izbor ključeva i indeksa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Projektovanje tabela i relacija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29"/>
          <p:cNvSpPr/>
          <p:nvPr/>
        </p:nvSpPr>
        <p:spPr>
          <a:xfrm>
            <a:off x="5768350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najznačajniji mehanizam za optimizaciju performansi upita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B+ tree struktura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en" sz="1700">
                <a:solidFill>
                  <a:schemeClr val="dk1"/>
                </a:solidFill>
              </a:rPr>
              <a:t>Klasterovani indeksi</a:t>
            </a:r>
            <a:r>
              <a:rPr lang="en" sz="1700">
                <a:solidFill>
                  <a:schemeClr val="dk1"/>
                </a:solidFill>
              </a:rPr>
              <a:t> (uzak, jedinstven, statičan, monotono rastući)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en" sz="1700">
                <a:solidFill>
                  <a:schemeClr val="dk1"/>
                </a:solidFill>
              </a:rPr>
              <a:t>Neklasterizovani indeksi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en" sz="1700">
                <a:solidFill>
                  <a:schemeClr val="dk1"/>
                </a:solidFill>
              </a:rPr>
              <a:t>Indeksi koji poboljšavaju performanse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en" sz="1700">
                <a:solidFill>
                  <a:schemeClr val="dk1"/>
                </a:solidFill>
              </a:rPr>
              <a:t>Kompozitni </a:t>
            </a:r>
            <a:r>
              <a:rPr lang="en" sz="1700">
                <a:solidFill>
                  <a:schemeClr val="dk1"/>
                </a:solidFill>
              </a:rPr>
              <a:t>(indeksira se više kolona, redosled je jako važan)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en" sz="1700">
                <a:solidFill>
                  <a:schemeClr val="dk1"/>
                </a:solidFill>
              </a:rPr>
              <a:t>Filtrirani </a:t>
            </a:r>
            <a:r>
              <a:rPr lang="en" sz="1700">
                <a:solidFill>
                  <a:schemeClr val="dk1"/>
                </a:solidFill>
              </a:rPr>
              <a:t>(indeksira se samo podskup redova)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en" sz="1700">
                <a:solidFill>
                  <a:schemeClr val="dk1"/>
                </a:solidFill>
              </a:rPr>
              <a:t>Pokrivajući </a:t>
            </a:r>
            <a:r>
              <a:rPr lang="en" sz="1700">
                <a:solidFill>
                  <a:schemeClr val="dk1"/>
                </a:solidFill>
              </a:rPr>
              <a:t>(covering - sadrži sve kolone potrebne za upit)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Projektovanje indeksa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p30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192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1D3082"/>
                </a:solidFill>
                <a:latin typeface="Consolas"/>
                <a:ea typeface="Consolas"/>
                <a:cs typeface="Consolas"/>
                <a:sym typeface="Consolas"/>
              </a:rPr>
              <a:t>Upotreba covering indeksa</a:t>
            </a:r>
            <a:endParaRPr b="1" sz="2220">
              <a:solidFill>
                <a:srgbClr val="1D308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75" y="765003"/>
            <a:ext cx="9144000" cy="2784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23631"/>
            <a:ext cx="9144000" cy="105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11700" y="1152475"/>
            <a:ext cx="8520600" cy="3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D3082"/>
                </a:solidFill>
              </a:rPr>
              <a:t>Preporuke</a:t>
            </a:r>
            <a:endParaRPr b="1" sz="1700">
              <a:solidFill>
                <a:srgbClr val="1D308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Ne praviti indeks ako ne ubrzava nijedan upit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Atributi iz </a:t>
            </a:r>
            <a:r>
              <a:rPr b="1" lang="en" sz="1600">
                <a:solidFill>
                  <a:schemeClr val="dk1"/>
                </a:solidFill>
              </a:rPr>
              <a:t>WHERE </a:t>
            </a:r>
            <a:r>
              <a:rPr lang="en" sz="1600">
                <a:solidFill>
                  <a:schemeClr val="dk1"/>
                </a:solidFill>
              </a:rPr>
              <a:t>iskaza su primarni kandidati za indeksiranje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Razmotriti uticaj indeksa na </a:t>
            </a:r>
            <a:r>
              <a:rPr b="1" lang="en" sz="1600">
                <a:solidFill>
                  <a:schemeClr val="dk1"/>
                </a:solidFill>
              </a:rPr>
              <a:t>INSERT/UPDATE/DELETE</a:t>
            </a:r>
            <a:r>
              <a:rPr lang="en" sz="1600">
                <a:solidFill>
                  <a:schemeClr val="dk1"/>
                </a:solidFill>
              </a:rPr>
              <a:t>; odbaciti indeks ako previše usporava ažuriranja (ali imati na umu da indeksi mogu i ubrzati ažuriranja pronalaženjem redova)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Koklasterovanje </a:t>
            </a:r>
            <a:r>
              <a:rPr lang="en" sz="1600">
                <a:solidFill>
                  <a:schemeClr val="dk1"/>
                </a:solidFill>
              </a:rPr>
              <a:t>(Fizički smestiti redove iz povezanih tabela blizu na disku - manje I/O pri JOIN operacijama)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Zajednička filegroup za povezane tabele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Indeksirani pogledi (materijalizacija JOIN rezultata)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Projektovanje indeksa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52518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1D30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ctrTitle"/>
          </p:nvPr>
        </p:nvSpPr>
        <p:spPr>
          <a:xfrm>
            <a:off x="311700" y="208075"/>
            <a:ext cx="8520600" cy="321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Obrada transakcija, planovi izvršavanja,</a:t>
            </a:r>
            <a:endParaRPr b="1" sz="4000">
              <a:solidFill>
                <a:srgbClr val="36209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izolacija i zaključavanje u</a:t>
            </a:r>
            <a:r>
              <a:rPr b="1" lang="en" sz="4000">
                <a:solidFill>
                  <a:srgbClr val="36209B"/>
                </a:solidFill>
                <a:highlight>
                  <a:srgbClr val="36209B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4000">
                <a:solidFill>
                  <a:schemeClr val="lt1"/>
                </a:solidFill>
                <a:highlight>
                  <a:srgbClr val="36209B"/>
                </a:highlight>
                <a:latin typeface="Consolas"/>
                <a:ea typeface="Consolas"/>
                <a:cs typeface="Consolas"/>
                <a:sym typeface="Consolas"/>
              </a:rPr>
              <a:t>MongoDB</a:t>
            </a:r>
            <a:r>
              <a:rPr b="1" lang="en" sz="4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40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bazi</a:t>
            </a:r>
            <a:endParaRPr b="1" sz="4000">
              <a:solidFill>
                <a:srgbClr val="36209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podataka</a:t>
            </a:r>
            <a:endParaRPr b="1" sz="4000">
              <a:solidFill>
                <a:srgbClr val="36209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33"/>
          <p:cNvSpPr txBox="1"/>
          <p:nvPr>
            <p:ph idx="1" type="subTitle"/>
          </p:nvPr>
        </p:nvSpPr>
        <p:spPr>
          <a:xfrm>
            <a:off x="311700" y="3932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36209B"/>
                </a:highlight>
                <a:latin typeface="Consolas"/>
                <a:ea typeface="Consolas"/>
                <a:cs typeface="Consolas"/>
                <a:sym typeface="Consolas"/>
              </a:rPr>
              <a:t>Anastasija Savov, 1924</a:t>
            </a:r>
            <a:endParaRPr>
              <a:solidFill>
                <a:schemeClr val="lt1"/>
              </a:solidFill>
              <a:highlight>
                <a:srgbClr val="36209B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311700" y="1022875"/>
            <a:ext cx="8520600" cy="37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Sve operacije nad jednim dokumentom su </a:t>
            </a:r>
            <a:r>
              <a:rPr b="1" lang="en" sz="1600">
                <a:solidFill>
                  <a:schemeClr val="dk1"/>
                </a:solidFill>
              </a:rPr>
              <a:t>atomične </a:t>
            </a:r>
            <a:r>
              <a:rPr lang="en" sz="1600">
                <a:solidFill>
                  <a:schemeClr val="dk1"/>
                </a:solidFill>
              </a:rPr>
              <a:t>(ugnježdeni dokumenti, nizovi)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Preporučene strategije: </a:t>
            </a:r>
            <a:r>
              <a:rPr b="1" lang="en" sz="1600">
                <a:solidFill>
                  <a:schemeClr val="dk1"/>
                </a:solidFill>
              </a:rPr>
              <a:t>ugnježdavanje </a:t>
            </a:r>
            <a:r>
              <a:rPr lang="en" sz="1600">
                <a:solidFill>
                  <a:schemeClr val="dk1"/>
                </a:solidFill>
              </a:rPr>
              <a:t>i </a:t>
            </a:r>
            <a:r>
              <a:rPr b="1" lang="en" sz="1600">
                <a:solidFill>
                  <a:schemeClr val="dk1"/>
                </a:solidFill>
              </a:rPr>
              <a:t>denormalizacija </a:t>
            </a:r>
            <a:r>
              <a:rPr lang="en" sz="1600">
                <a:solidFill>
                  <a:schemeClr val="dk1"/>
                </a:solidFill>
              </a:rPr>
              <a:t>→ smanjuje potrebu za transakcijama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Kada dokument prelazi preko organičenja od </a:t>
            </a:r>
            <a:r>
              <a:rPr b="1" lang="en" sz="1600">
                <a:solidFill>
                  <a:schemeClr val="dk1"/>
                </a:solidFill>
              </a:rPr>
              <a:t>16MB </a:t>
            </a:r>
            <a:r>
              <a:rPr lang="en" sz="1600">
                <a:solidFill>
                  <a:schemeClr val="dk1"/>
                </a:solidFill>
              </a:rPr>
              <a:t>ili postoje n:m veze - neophodne su </a:t>
            </a:r>
            <a:r>
              <a:rPr b="1" lang="en" sz="1600">
                <a:solidFill>
                  <a:schemeClr val="dk1"/>
                </a:solidFill>
              </a:rPr>
              <a:t>višedokumentne transakcije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13" name="Google Shape;213;p34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Model podataka i atomičnost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4"/>
          <p:cNvPicPr preferRelativeResize="0"/>
          <p:nvPr/>
        </p:nvPicPr>
        <p:blipFill rotWithShape="1">
          <a:blip r:embed="rId3">
            <a:alphaModFix/>
          </a:blip>
          <a:srcRect b="0" l="0" r="0" t="63410"/>
          <a:stretch/>
        </p:blipFill>
        <p:spPr>
          <a:xfrm>
            <a:off x="537625" y="2571742"/>
            <a:ext cx="8010525" cy="75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613" y="3221188"/>
            <a:ext cx="789622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311700" y="1152475"/>
            <a:ext cx="8520600" cy="3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ACID princip: Atomičnost, Konzistentnost, Izolacija, Trajnost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Transakcije rade kroz sesiju (</a:t>
            </a:r>
            <a:r>
              <a:rPr b="1" lang="en" sz="1700">
                <a:solidFill>
                  <a:schemeClr val="dk1"/>
                </a:solidFill>
              </a:rPr>
              <a:t>startSession</a:t>
            </a:r>
            <a:r>
              <a:rPr lang="en" sz="1700">
                <a:solidFill>
                  <a:schemeClr val="dk1"/>
                </a:solidFill>
              </a:rPr>
              <a:t> → </a:t>
            </a:r>
            <a:r>
              <a:rPr b="1" lang="en" sz="1700">
                <a:solidFill>
                  <a:schemeClr val="dk1"/>
                </a:solidFill>
              </a:rPr>
              <a:t>withTransaction</a:t>
            </a:r>
            <a:r>
              <a:rPr lang="en" sz="1700">
                <a:solidFill>
                  <a:schemeClr val="dk1"/>
                </a:solidFill>
              </a:rPr>
              <a:t>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Callback API (</a:t>
            </a:r>
            <a:r>
              <a:rPr b="1" lang="en" sz="1700">
                <a:solidFill>
                  <a:schemeClr val="dk1"/>
                </a:solidFill>
              </a:rPr>
              <a:t>withTransaction</a:t>
            </a:r>
            <a:r>
              <a:rPr lang="en" sz="1700">
                <a:solidFill>
                  <a:schemeClr val="dk1"/>
                </a:solidFill>
              </a:rPr>
              <a:t>) - automatski retry kod prolaznih grešaka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Mane i ograničenja: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en" sz="1700">
                <a:solidFill>
                  <a:schemeClr val="dk1"/>
                </a:solidFill>
              </a:rPr>
              <a:t>timeout 60s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maks. </a:t>
            </a:r>
            <a:r>
              <a:rPr b="1" lang="en" sz="1700">
                <a:solidFill>
                  <a:schemeClr val="dk1"/>
                </a:solidFill>
              </a:rPr>
              <a:t>16MB </a:t>
            </a:r>
            <a:r>
              <a:rPr lang="en" sz="1700">
                <a:solidFill>
                  <a:schemeClr val="dk1"/>
                </a:solidFill>
              </a:rPr>
              <a:t>oplog zapisa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oslabljene performanse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nema savepoint-a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Write conflict (ako dve transakcije pokušaju da modifikuju isti dokument, druga transakcija će dobiti write conflict grešku i moraće da se ponovi )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2" name="Google Shape;222;p35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Višedokumentne ACID transakcije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35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" y="1152475"/>
            <a:ext cx="89344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6"/>
          <p:cNvSpPr txBox="1"/>
          <p:nvPr/>
        </p:nvSpPr>
        <p:spPr>
          <a:xfrm>
            <a:off x="319300" y="389950"/>
            <a:ext cx="3492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D3082"/>
                </a:solidFill>
              </a:rPr>
              <a:t>Primer izvršenja transakcije</a:t>
            </a:r>
            <a:endParaRPr b="1" sz="1800">
              <a:solidFill>
                <a:srgbClr val="1D308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675" y="116394"/>
            <a:ext cx="3518325" cy="194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311700" y="1152475"/>
            <a:ext cx="8520600" cy="3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6209B"/>
                </a:solidFill>
              </a:rPr>
              <a:t>Distribuirane transakcije</a:t>
            </a:r>
            <a:endParaRPr b="1" sz="1700">
              <a:solidFill>
                <a:srgbClr val="36209B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Transakcije koje obuhvataju više shardova, tj shardovanih klastera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2PC protokol (two-phase commit)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Transaction </a:t>
            </a:r>
            <a:r>
              <a:rPr b="1" lang="en" sz="1600">
                <a:solidFill>
                  <a:schemeClr val="dk1"/>
                </a:solidFill>
              </a:rPr>
              <a:t>Coordinator</a:t>
            </a:r>
            <a:r>
              <a:rPr lang="en" sz="1600">
                <a:solidFill>
                  <a:schemeClr val="dk1"/>
                </a:solidFill>
              </a:rPr>
              <a:t> - Jedan od shard-ova (obično onaj na kom je pokrenuta prva operacija pisanja) preuzima ulogu koordinatora. Koordinator prati učesnike transakcije i upravlja 2PC protokolom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Prepare faza</a:t>
            </a:r>
            <a:r>
              <a:rPr lang="en" sz="1600">
                <a:solidFill>
                  <a:schemeClr val="dk1"/>
                </a:solidFill>
              </a:rPr>
              <a:t> - Koordinator šalje komandu svakom učesničkom shard-u. Svaki učesnik priprema transakciju, drži lock-ove nad modifikovanim dokumentima i odgovara pozitivno ili negativno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Commit/Abort faza</a:t>
            </a:r>
            <a:r>
              <a:rPr lang="en" sz="1600">
                <a:solidFill>
                  <a:schemeClr val="dk1"/>
                </a:solidFill>
              </a:rPr>
              <a:t> - Ako su svi učesnici odgovorili pozitivno, koordinator šalje komandu za commit svim učesnicima. U slučaju bilo koje negativne potvrde ili isteka vremena, šalje se abort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Višedokumentne ACID transakcije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37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311700" y="1452125"/>
            <a:ext cx="8520600" cy="30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Cost-based optimizer</a:t>
            </a:r>
            <a:r>
              <a:rPr lang="en" sz="1600">
                <a:solidFill>
                  <a:schemeClr val="dk1"/>
                </a:solidFill>
              </a:rPr>
              <a:t> - testira više planova paralelno, kešira najbolji plan u tom momentu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explain()</a:t>
            </a:r>
            <a:r>
              <a:rPr lang="en" sz="1600">
                <a:solidFill>
                  <a:schemeClr val="dk1"/>
                </a:solidFill>
              </a:rPr>
              <a:t> funkcija - alat za analizu planova izvršavanja u MongoDB-u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Ključne faze tokom izvršavanja upita: </a:t>
            </a:r>
            <a:r>
              <a:rPr b="1" lang="en" sz="1600">
                <a:solidFill>
                  <a:schemeClr val="dk1"/>
                </a:solidFill>
              </a:rPr>
              <a:t>COLLSCAN, 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IXSCAN,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FETCH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b="1" lang="en" sz="1600">
                <a:solidFill>
                  <a:schemeClr val="dk1"/>
                </a:solidFill>
              </a:rPr>
              <a:t>SORT, LIMIT, SKIP…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Metrike: odnos </a:t>
            </a:r>
            <a:r>
              <a:rPr b="1" lang="en" sz="1600">
                <a:solidFill>
                  <a:schemeClr val="dk1"/>
                </a:solidFill>
              </a:rPr>
              <a:t>totalDocsExamined  </a:t>
            </a:r>
            <a:r>
              <a:rPr lang="en" sz="1600">
                <a:solidFill>
                  <a:schemeClr val="dk1"/>
                </a:solidFill>
              </a:rPr>
              <a:t>i </a:t>
            </a:r>
            <a:r>
              <a:rPr b="1" lang="en" sz="1600">
                <a:solidFill>
                  <a:schemeClr val="dk1"/>
                </a:solidFill>
              </a:rPr>
              <a:t>nReturned </a:t>
            </a:r>
            <a:r>
              <a:rPr lang="en" sz="1600">
                <a:solidFill>
                  <a:schemeClr val="dk1"/>
                </a:solidFill>
              </a:rPr>
              <a:t>treba da bude približan 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Agregacioni pipeline: </a:t>
            </a:r>
            <a:r>
              <a:rPr b="1" lang="en" sz="1600">
                <a:solidFill>
                  <a:schemeClr val="dk1"/>
                </a:solidFill>
              </a:rPr>
              <a:t>predicate pushdown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b="1" lang="en" sz="1600">
                <a:solidFill>
                  <a:schemeClr val="dk1"/>
                </a:solidFill>
              </a:rPr>
              <a:t>sort-merge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b="1" lang="en" sz="1600">
                <a:solidFill>
                  <a:schemeClr val="dk1"/>
                </a:solidFill>
              </a:rPr>
              <a:t>projection pushdown, spajanje uzastopnih faza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43" name="Google Shape;243;p38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0EB8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Planovi izvršavanja upita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4" name="Google Shape;244;p38"/>
          <p:cNvPicPr preferRelativeResize="0"/>
          <p:nvPr/>
        </p:nvPicPr>
        <p:blipFill rotWithShape="1">
          <a:blip r:embed="rId3">
            <a:alphaModFix/>
          </a:blip>
          <a:srcRect b="64445" l="14968" r="35971" t="15591"/>
          <a:stretch/>
        </p:blipFill>
        <p:spPr>
          <a:xfrm>
            <a:off x="406600" y="3838349"/>
            <a:ext cx="2429900" cy="7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8"/>
          <p:cNvPicPr preferRelativeResize="0"/>
          <p:nvPr/>
        </p:nvPicPr>
        <p:blipFill rotWithShape="1">
          <a:blip r:embed="rId3">
            <a:alphaModFix/>
          </a:blip>
          <a:srcRect b="14429" l="17033" r="43310" t="63225"/>
          <a:stretch/>
        </p:blipFill>
        <p:spPr>
          <a:xfrm>
            <a:off x="3142063" y="3743698"/>
            <a:ext cx="1964275" cy="8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8"/>
          <p:cNvSpPr txBox="1"/>
          <p:nvPr/>
        </p:nvSpPr>
        <p:spPr>
          <a:xfrm>
            <a:off x="926750" y="4573151"/>
            <a:ext cx="13896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COLLSCAN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47" name="Google Shape;247;p38"/>
          <p:cNvSpPr txBox="1"/>
          <p:nvPr/>
        </p:nvSpPr>
        <p:spPr>
          <a:xfrm>
            <a:off x="3429413" y="4598501"/>
            <a:ext cx="13896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IXSCAN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0EB8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9" title="collsc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525" y="870088"/>
            <a:ext cx="382905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9"/>
          <p:cNvSpPr txBox="1"/>
          <p:nvPr/>
        </p:nvSpPr>
        <p:spPr>
          <a:xfrm>
            <a:off x="1374300" y="259000"/>
            <a:ext cx="256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Primer za COLLSCAN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5515938" y="259000"/>
            <a:ext cx="256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Primer za IXSCAN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256" name="Google Shape;25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8" y="855550"/>
            <a:ext cx="4586450" cy="3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311700" y="1452125"/>
            <a:ext cx="8520600" cy="30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Tipovi indeksa:</a:t>
            </a:r>
            <a:r>
              <a:rPr b="1" lang="en" sz="1600">
                <a:solidFill>
                  <a:schemeClr val="dk1"/>
                </a:solidFill>
              </a:rPr>
              <a:t> j</a:t>
            </a:r>
            <a:r>
              <a:rPr b="1" lang="en" sz="1600">
                <a:solidFill>
                  <a:schemeClr val="dk1"/>
                </a:solidFill>
              </a:rPr>
              <a:t>ednostruki</a:t>
            </a:r>
            <a:r>
              <a:rPr b="1" lang="en" sz="1600">
                <a:solidFill>
                  <a:schemeClr val="dk1"/>
                </a:solidFill>
              </a:rPr>
              <a:t>, k</a:t>
            </a:r>
            <a:r>
              <a:rPr b="1" lang="en" sz="1600">
                <a:solidFill>
                  <a:schemeClr val="dk1"/>
                </a:solidFill>
              </a:rPr>
              <a:t>ompozitni</a:t>
            </a:r>
            <a:r>
              <a:rPr b="1" lang="en" sz="1600">
                <a:solidFill>
                  <a:schemeClr val="dk1"/>
                </a:solidFill>
              </a:rPr>
              <a:t>, m</a:t>
            </a:r>
            <a:r>
              <a:rPr b="1" lang="en" sz="1600">
                <a:solidFill>
                  <a:schemeClr val="dk1"/>
                </a:solidFill>
              </a:rPr>
              <a:t>ultikey</a:t>
            </a:r>
            <a:r>
              <a:rPr b="1" lang="en" sz="1600">
                <a:solidFill>
                  <a:schemeClr val="dk1"/>
                </a:solidFill>
              </a:rPr>
              <a:t>, t</a:t>
            </a:r>
            <a:r>
              <a:rPr b="1" lang="en" sz="1600">
                <a:solidFill>
                  <a:schemeClr val="dk1"/>
                </a:solidFill>
              </a:rPr>
              <a:t>ekstualni, geospacijalni, hashed, wildcard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ESR</a:t>
            </a:r>
            <a:r>
              <a:rPr lang="en" sz="1600">
                <a:solidFill>
                  <a:schemeClr val="dk1"/>
                </a:solidFill>
              </a:rPr>
              <a:t> pravilo za upotrebu kompozitnih indeksa: </a:t>
            </a:r>
            <a:r>
              <a:rPr b="1" lang="en" sz="1600">
                <a:solidFill>
                  <a:schemeClr val="dk1"/>
                </a:solidFill>
              </a:rPr>
              <a:t>Equality </a:t>
            </a:r>
            <a:r>
              <a:rPr lang="en" sz="1600">
                <a:solidFill>
                  <a:schemeClr val="dk1"/>
                </a:solidFill>
              </a:rPr>
              <a:t>→ </a:t>
            </a:r>
            <a:r>
              <a:rPr b="1" lang="en" sz="1600">
                <a:solidFill>
                  <a:schemeClr val="dk1"/>
                </a:solidFill>
              </a:rPr>
              <a:t>Sort </a:t>
            </a:r>
            <a:r>
              <a:rPr lang="en" sz="1600">
                <a:solidFill>
                  <a:schemeClr val="dk1"/>
                </a:solidFill>
              </a:rPr>
              <a:t>→ </a:t>
            </a:r>
            <a:r>
              <a:rPr b="1" lang="en" sz="1600">
                <a:solidFill>
                  <a:schemeClr val="dk1"/>
                </a:solidFill>
              </a:rPr>
              <a:t>Range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Covered query (koristi samo IXSCAN, bez FETCH) - najbrža varijanta pretrage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0C60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Indeksi i optimizacija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40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0C60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40" title="ind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448" y="3060950"/>
            <a:ext cx="4670750" cy="16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0"/>
          <p:cNvSpPr txBox="1"/>
          <p:nvPr/>
        </p:nvSpPr>
        <p:spPr>
          <a:xfrm>
            <a:off x="6575900" y="3547350"/>
            <a:ext cx="2197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highlight>
                  <a:srgbClr val="0C60B2"/>
                </a:highlight>
                <a:latin typeface="Consolas"/>
                <a:ea typeface="Consolas"/>
                <a:cs typeface="Consolas"/>
                <a:sym typeface="Consolas"/>
              </a:rPr>
              <a:t>Jednostruki indeks</a:t>
            </a:r>
            <a:endParaRPr b="1" sz="1600">
              <a:solidFill>
                <a:schemeClr val="lt1"/>
              </a:solidFill>
              <a:highlight>
                <a:srgbClr val="0C60B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1" title="multik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41250"/>
            <a:ext cx="4371526" cy="240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1" title="kompozitn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0375" y="1"/>
            <a:ext cx="6033626" cy="217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1"/>
          <p:cNvSpPr txBox="1"/>
          <p:nvPr/>
        </p:nvSpPr>
        <p:spPr>
          <a:xfrm>
            <a:off x="4572000" y="3575025"/>
            <a:ext cx="18114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highlight>
                  <a:srgbClr val="0C60B2"/>
                </a:highlight>
                <a:latin typeface="Consolas"/>
                <a:ea typeface="Consolas"/>
                <a:cs typeface="Consolas"/>
                <a:sym typeface="Consolas"/>
              </a:rPr>
              <a:t>Multi-key indeks</a:t>
            </a:r>
            <a:endParaRPr b="1" sz="1600">
              <a:solidFill>
                <a:schemeClr val="lt1"/>
              </a:solidFill>
              <a:highlight>
                <a:srgbClr val="0C60B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1298975" y="788275"/>
            <a:ext cx="18114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highlight>
                  <a:srgbClr val="0C60B2"/>
                </a:highlight>
                <a:latin typeface="Consolas"/>
                <a:ea typeface="Consolas"/>
                <a:cs typeface="Consolas"/>
                <a:sym typeface="Consolas"/>
              </a:rPr>
              <a:t>Kompozitni</a:t>
            </a:r>
            <a:endParaRPr b="1" sz="1600">
              <a:solidFill>
                <a:schemeClr val="lt1"/>
              </a:solidFill>
              <a:highlight>
                <a:srgbClr val="0C60B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highlight>
                  <a:srgbClr val="0C60B2"/>
                </a:highlight>
                <a:latin typeface="Consolas"/>
                <a:ea typeface="Consolas"/>
                <a:cs typeface="Consolas"/>
                <a:sym typeface="Consolas"/>
              </a:rPr>
              <a:t>indeks</a:t>
            </a:r>
            <a:endParaRPr b="1" sz="1600">
              <a:solidFill>
                <a:schemeClr val="lt1"/>
              </a:solidFill>
              <a:highlight>
                <a:srgbClr val="0C60B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idx="1" type="body"/>
          </p:nvPr>
        </p:nvSpPr>
        <p:spPr>
          <a:xfrm>
            <a:off x="311700" y="1452125"/>
            <a:ext cx="8520600" cy="30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Write Concern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definiše nivo garancije da je operacija pisanja uspešno zabeležena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w:0</a:t>
            </a:r>
            <a:r>
              <a:rPr lang="en" sz="1600">
                <a:solidFill>
                  <a:schemeClr val="dk1"/>
                </a:solidFill>
              </a:rPr>
              <a:t> (bez potvrde) → </a:t>
            </a:r>
            <a:r>
              <a:rPr b="1" lang="en" sz="1600">
                <a:solidFill>
                  <a:schemeClr val="dk1"/>
                </a:solidFill>
              </a:rPr>
              <a:t>w:1</a:t>
            </a:r>
            <a:r>
              <a:rPr lang="en" sz="1600">
                <a:solidFill>
                  <a:schemeClr val="dk1"/>
                </a:solidFill>
              </a:rPr>
              <a:t> (primarni) →</a:t>
            </a:r>
            <a:r>
              <a:rPr b="1" lang="en" sz="1600">
                <a:solidFill>
                  <a:schemeClr val="dk1"/>
                </a:solidFill>
              </a:rPr>
              <a:t> w:"majority"</a:t>
            </a:r>
            <a:r>
              <a:rPr lang="en" sz="1600">
                <a:solidFill>
                  <a:schemeClr val="dk1"/>
                </a:solidFill>
              </a:rPr>
              <a:t> (trajno) +</a:t>
            </a:r>
            <a:r>
              <a:rPr b="1" lang="en" sz="1600">
                <a:solidFill>
                  <a:schemeClr val="dk1"/>
                </a:solidFill>
              </a:rPr>
              <a:t> j:true </a:t>
            </a:r>
            <a:r>
              <a:rPr lang="en" sz="1600">
                <a:solidFill>
                  <a:schemeClr val="dk1"/>
                </a:solidFill>
              </a:rPr>
              <a:t>(journal)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Read Concern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Određuje koji podaci su vidljivi operaciji čitanja u kontekstu replikacije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local </a:t>
            </a:r>
            <a:r>
              <a:rPr lang="en" sz="1600">
                <a:solidFill>
                  <a:schemeClr val="dk1"/>
                </a:solidFill>
              </a:rPr>
              <a:t>→ </a:t>
            </a:r>
            <a:r>
              <a:rPr b="1" lang="en" sz="1600">
                <a:solidFill>
                  <a:schemeClr val="dk1"/>
                </a:solidFill>
              </a:rPr>
              <a:t>majority </a:t>
            </a:r>
            <a:r>
              <a:rPr lang="en" sz="1600">
                <a:solidFill>
                  <a:schemeClr val="dk1"/>
                </a:solidFill>
              </a:rPr>
              <a:t>→ </a:t>
            </a:r>
            <a:r>
              <a:rPr b="1" lang="en" sz="1600">
                <a:solidFill>
                  <a:schemeClr val="dk1"/>
                </a:solidFill>
              </a:rPr>
              <a:t>linearizable </a:t>
            </a:r>
            <a:r>
              <a:rPr lang="en" sz="1600">
                <a:solidFill>
                  <a:schemeClr val="dk1"/>
                </a:solidFill>
              </a:rPr>
              <a:t>→ </a:t>
            </a:r>
            <a:r>
              <a:rPr b="1" lang="en" sz="1600">
                <a:solidFill>
                  <a:schemeClr val="dk1"/>
                </a:solidFill>
              </a:rPr>
              <a:t>snapshot </a:t>
            </a:r>
            <a:r>
              <a:rPr lang="en" sz="1600">
                <a:solidFill>
                  <a:schemeClr val="dk1"/>
                </a:solidFill>
              </a:rPr>
              <a:t>(u transakcijama)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Kauzalna konzistentnost</a:t>
            </a:r>
            <a:r>
              <a:rPr lang="en" sz="1600">
                <a:solidFill>
                  <a:schemeClr val="dk1"/>
                </a:solidFill>
              </a:rPr>
              <a:t> - sesija garantuje ispravni redosled operacija i pri čitanju sa sekundarnih čvorova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Oslanja se na klaster logički sat za sinhronizaciju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9" name="Google Shape;279;p42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 i Write concern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42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311700" y="1510325"/>
            <a:ext cx="85206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MongoDB koristi </a:t>
            </a:r>
            <a:r>
              <a:rPr b="1" lang="en" sz="1600">
                <a:solidFill>
                  <a:schemeClr val="dk1"/>
                </a:solidFill>
              </a:rPr>
              <a:t>snapshot </a:t>
            </a:r>
            <a:r>
              <a:rPr lang="en" sz="1600">
                <a:solidFill>
                  <a:schemeClr val="dk1"/>
                </a:solidFill>
              </a:rPr>
              <a:t>izolaciju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Sprečava: dirty read, non-repeatable read, phantom read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Ne sprečava </a:t>
            </a:r>
            <a:r>
              <a:rPr b="1" lang="en" sz="1600">
                <a:solidFill>
                  <a:schemeClr val="dk1"/>
                </a:solidFill>
              </a:rPr>
              <a:t>write skew </a:t>
            </a:r>
            <a:r>
              <a:rPr lang="en" sz="1600">
                <a:solidFill>
                  <a:schemeClr val="dk1"/>
                </a:solidFill>
              </a:rPr>
              <a:t>- dve transakcije čitaju iste podatke i na osnovu pročitanog donose odluke o pisanju koje su međusobno konfliktne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Write conflict </a:t>
            </a:r>
            <a:r>
              <a:rPr lang="en" sz="1600">
                <a:solidFill>
                  <a:schemeClr val="dk1"/>
                </a:solidFill>
              </a:rPr>
              <a:t>- prva transakcija koja ažurira dokument ga i zaključava, druga dobija WriteConflict grešku i mora da se ponovi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Atomični operatori ($inc, $push) štite od </a:t>
            </a:r>
            <a:r>
              <a:rPr b="1" lang="en" sz="1600">
                <a:solidFill>
                  <a:schemeClr val="dk1"/>
                </a:solidFill>
              </a:rPr>
              <a:t>lost updates</a:t>
            </a:r>
            <a:r>
              <a:rPr lang="en" sz="1600">
                <a:solidFill>
                  <a:schemeClr val="dk1"/>
                </a:solidFill>
              </a:rPr>
              <a:t> van transakcija (kada dve konkurentne operacije međusobno prepisuju ažuriranja)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6" name="Google Shape;286;p43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Izolacija transakcija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43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>
            <p:ph type="title"/>
          </p:nvPr>
        </p:nvSpPr>
        <p:spPr>
          <a:xfrm>
            <a:off x="311700" y="8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Consolas"/>
                <a:ea typeface="Consolas"/>
                <a:cs typeface="Consolas"/>
                <a:sym typeface="Consolas"/>
              </a:rPr>
              <a:t>Simulacija WriteConflict greške</a:t>
            </a:r>
            <a:endParaRPr b="1" sz="232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3" name="Google Shape;29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750" y="739150"/>
            <a:ext cx="7296501" cy="177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750" y="2435675"/>
            <a:ext cx="7187176" cy="251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5"/>
          <p:cNvSpPr txBox="1"/>
          <p:nvPr>
            <p:ph type="title"/>
          </p:nvPr>
        </p:nvSpPr>
        <p:spPr>
          <a:xfrm>
            <a:off x="311700" y="24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Consolas"/>
                <a:ea typeface="Consolas"/>
                <a:cs typeface="Consolas"/>
                <a:sym typeface="Consolas"/>
              </a:rPr>
              <a:t>Primer potencijalne lost updates greške</a:t>
            </a:r>
            <a:endParaRPr b="1" sz="232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0" name="Google Shape;3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25" y="1082825"/>
            <a:ext cx="716254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idx="1" type="body"/>
          </p:nvPr>
        </p:nvSpPr>
        <p:spPr>
          <a:xfrm>
            <a:off x="311700" y="1073800"/>
            <a:ext cx="8520600" cy="37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WiredTiger </a:t>
            </a:r>
            <a:r>
              <a:rPr lang="en" sz="1600">
                <a:solidFill>
                  <a:schemeClr val="dk1"/>
                </a:solidFill>
              </a:rPr>
              <a:t>(od v3.2) - zaključavanje na nivou dokumenta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Hijerarhija</a:t>
            </a:r>
            <a:r>
              <a:rPr lang="en" sz="1600">
                <a:solidFill>
                  <a:schemeClr val="dk1"/>
                </a:solidFill>
              </a:rPr>
              <a:t>: Global → Database → Collection → Document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Tipovi: </a:t>
            </a:r>
            <a:r>
              <a:rPr b="1" lang="en" sz="1600">
                <a:solidFill>
                  <a:schemeClr val="dk1"/>
                </a:solidFill>
              </a:rPr>
              <a:t>Shared </a:t>
            </a:r>
            <a:r>
              <a:rPr lang="en" sz="1600">
                <a:solidFill>
                  <a:schemeClr val="dk1"/>
                </a:solidFill>
              </a:rPr>
              <a:t>(S), </a:t>
            </a:r>
            <a:r>
              <a:rPr b="1" lang="en" sz="1600">
                <a:solidFill>
                  <a:schemeClr val="dk1"/>
                </a:solidFill>
              </a:rPr>
              <a:t>Exclusive </a:t>
            </a:r>
            <a:r>
              <a:rPr lang="en" sz="1600">
                <a:solidFill>
                  <a:schemeClr val="dk1"/>
                </a:solidFill>
              </a:rPr>
              <a:t>(X), </a:t>
            </a:r>
            <a:r>
              <a:rPr b="1" lang="en" sz="1600">
                <a:solidFill>
                  <a:schemeClr val="dk1"/>
                </a:solidFill>
              </a:rPr>
              <a:t>Intent Shared</a:t>
            </a:r>
            <a:r>
              <a:rPr lang="en" sz="1600">
                <a:solidFill>
                  <a:schemeClr val="dk1"/>
                </a:solidFill>
              </a:rPr>
              <a:t> (IS), </a:t>
            </a:r>
            <a:r>
              <a:rPr b="1" lang="en" sz="1600">
                <a:solidFill>
                  <a:schemeClr val="dk1"/>
                </a:solidFill>
              </a:rPr>
              <a:t>Intent Exclusive (</a:t>
            </a:r>
            <a:r>
              <a:rPr lang="en" sz="1600">
                <a:solidFill>
                  <a:schemeClr val="dk1"/>
                </a:solidFill>
              </a:rPr>
              <a:t>IX)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MVCC (multi-version concurrency control)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i="1" lang="en" sz="1600">
                <a:solidFill>
                  <a:schemeClr val="dk1"/>
                </a:solidFill>
              </a:rPr>
              <a:t>Snapshot </a:t>
            </a:r>
            <a:r>
              <a:rPr lang="en" sz="1600">
                <a:solidFill>
                  <a:schemeClr val="dk1"/>
                </a:solidFill>
              </a:rPr>
              <a:t>čitanje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In-memory upravljanje verzijama dokumenata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i="1" lang="en" sz="1600">
                <a:solidFill>
                  <a:schemeClr val="dk1"/>
                </a:solidFill>
              </a:rPr>
              <a:t>Checkpoint </a:t>
            </a:r>
            <a:r>
              <a:rPr lang="en" sz="1600">
                <a:solidFill>
                  <a:schemeClr val="dk1"/>
                </a:solidFill>
              </a:rPr>
              <a:t>mehanizam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Oslobađanje starih verzija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Yielding </a:t>
            </a:r>
            <a:r>
              <a:rPr lang="en" sz="1600">
                <a:solidFill>
                  <a:schemeClr val="dk1"/>
                </a:solidFill>
              </a:rPr>
              <a:t>- dugotrajne operacije periodično oslobađaju lock-ove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Proces ekvivalentan </a:t>
            </a:r>
            <a:r>
              <a:rPr b="1" lang="en" sz="1600">
                <a:solidFill>
                  <a:schemeClr val="dk1"/>
                </a:solidFill>
              </a:rPr>
              <a:t>Strict 2PL</a:t>
            </a:r>
            <a:r>
              <a:rPr lang="en" sz="1600">
                <a:solidFill>
                  <a:schemeClr val="dk1"/>
                </a:solidFill>
              </a:rPr>
              <a:t>: lock-ovi drže se do commit-a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Deadlock </a:t>
            </a:r>
            <a:r>
              <a:rPr lang="en" sz="1600">
                <a:solidFill>
                  <a:schemeClr val="dk1"/>
                </a:solidFill>
              </a:rPr>
              <a:t>procedura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timeout </a:t>
            </a:r>
            <a:r>
              <a:rPr lang="en" sz="1600">
                <a:solidFill>
                  <a:schemeClr val="dk1"/>
                </a:solidFill>
              </a:rPr>
              <a:t>(5ms)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WriteConflict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retry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06" name="Google Shape;306;p46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Zaključavanje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46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00" y="200224"/>
            <a:ext cx="9143999" cy="317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0425" y="3306390"/>
            <a:ext cx="9143999" cy="85186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7"/>
          <p:cNvSpPr txBox="1"/>
          <p:nvPr/>
        </p:nvSpPr>
        <p:spPr>
          <a:xfrm>
            <a:off x="2501825" y="4282125"/>
            <a:ext cx="39795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D3082"/>
                </a:solidFill>
                <a:latin typeface="Consolas"/>
                <a:ea typeface="Consolas"/>
                <a:cs typeface="Consolas"/>
                <a:sym typeface="Consolas"/>
              </a:rPr>
              <a:t>Primer dvofaznog zaključavanja</a:t>
            </a:r>
            <a:endParaRPr b="1" sz="1600">
              <a:solidFill>
                <a:srgbClr val="1D308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idx="1" type="body"/>
          </p:nvPr>
        </p:nvSpPr>
        <p:spPr>
          <a:xfrm>
            <a:off x="311700" y="1088350"/>
            <a:ext cx="8520600" cy="3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Upravljanje vrućim tačkama</a:t>
            </a:r>
            <a:endParaRPr b="1" sz="1600">
              <a:solidFill>
                <a:srgbClr val="36209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Kratke transakcije - manje konflikata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Vremensko razdvajanje batch operacija - umesto konkurentnih transakcija nad istim dokumentima, koristiti red čekanja (queue pattern)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n" sz="1600">
                <a:solidFill>
                  <a:schemeClr val="dk1"/>
                </a:solidFill>
              </a:rPr>
              <a:t>Dekompozicija </a:t>
            </a:r>
            <a:r>
              <a:rPr lang="en" sz="1600">
                <a:solidFill>
                  <a:schemeClr val="dk1"/>
                </a:solidFill>
              </a:rPr>
              <a:t>hotspot dokumenata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Atomični operatori van transakcija - Kada je moguće, koristiti </a:t>
            </a:r>
            <a:r>
              <a:rPr i="1" lang="en" sz="1600">
                <a:solidFill>
                  <a:schemeClr val="dk1"/>
                </a:solidFill>
              </a:rPr>
              <a:t>$inc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i="1" lang="en" sz="1600">
                <a:solidFill>
                  <a:schemeClr val="dk1"/>
                </a:solidFill>
              </a:rPr>
              <a:t>$push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Preporuke za optimizaciju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Pravilna upotreba </a:t>
            </a:r>
            <a:r>
              <a:rPr b="1" lang="en" sz="1600">
                <a:solidFill>
                  <a:schemeClr val="dk1"/>
                </a:solidFill>
              </a:rPr>
              <a:t>Read/Write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Concern-a </a:t>
            </a:r>
            <a:r>
              <a:rPr lang="en" sz="1600">
                <a:solidFill>
                  <a:schemeClr val="dk1"/>
                </a:solidFill>
              </a:rPr>
              <a:t>po tipu podataka </a:t>
            </a:r>
            <a:endParaRPr sz="1600">
              <a:solidFill>
                <a:schemeClr val="dk1"/>
              </a:solidFill>
            </a:endParaRPr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Za nekritične podatke (logovi, keš) - koristiti </a:t>
            </a:r>
            <a:r>
              <a:rPr b="1" lang="en" sz="1600">
                <a:solidFill>
                  <a:schemeClr val="dk1"/>
                </a:solidFill>
              </a:rPr>
              <a:t>w: 1</a:t>
            </a:r>
            <a:r>
              <a:rPr lang="en" sz="1600">
                <a:solidFill>
                  <a:schemeClr val="dk1"/>
                </a:solidFill>
              </a:rPr>
              <a:t> i readConcern: "</a:t>
            </a:r>
            <a:r>
              <a:rPr b="1" lang="en" sz="1600">
                <a:solidFill>
                  <a:schemeClr val="dk1"/>
                </a:solidFill>
              </a:rPr>
              <a:t>local</a:t>
            </a:r>
            <a:r>
              <a:rPr lang="en" sz="1600">
                <a:solidFill>
                  <a:schemeClr val="dk1"/>
                </a:solidFill>
              </a:rPr>
              <a:t>" za maksimalne performanse</a:t>
            </a:r>
            <a:endParaRPr sz="1600">
              <a:solidFill>
                <a:schemeClr val="dk1"/>
              </a:solidFill>
            </a:endParaRPr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Za poslovne podatke - koristiti </a:t>
            </a:r>
            <a:r>
              <a:rPr b="1" lang="en" sz="1600">
                <a:solidFill>
                  <a:schemeClr val="dk1"/>
                </a:solidFill>
              </a:rPr>
              <a:t>w: "majority"</a:t>
            </a:r>
            <a:r>
              <a:rPr lang="en" sz="1600">
                <a:solidFill>
                  <a:schemeClr val="dk1"/>
                </a:solidFill>
              </a:rPr>
              <a:t> i readConcern</a:t>
            </a:r>
            <a:r>
              <a:rPr b="1" lang="en" sz="1600">
                <a:solidFill>
                  <a:schemeClr val="dk1"/>
                </a:solidFill>
              </a:rPr>
              <a:t>: "majority" </a:t>
            </a:r>
            <a:r>
              <a:rPr lang="en" sz="1600">
                <a:solidFill>
                  <a:schemeClr val="dk1"/>
                </a:solidFill>
              </a:rPr>
              <a:t>za balans između performansi i trajnosti</a:t>
            </a:r>
            <a:endParaRPr sz="1600">
              <a:solidFill>
                <a:schemeClr val="dk1"/>
              </a:solidFill>
            </a:endParaRPr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Za kritične finansijske podatke - koristiti transakcije sa readConcern</a:t>
            </a:r>
            <a:r>
              <a:rPr b="1" lang="en" sz="1600">
                <a:solidFill>
                  <a:schemeClr val="dk1"/>
                </a:solidFill>
              </a:rPr>
              <a:t>: "snapshot"</a:t>
            </a:r>
            <a:r>
              <a:rPr lang="en" sz="1600">
                <a:solidFill>
                  <a:schemeClr val="dk1"/>
                </a:solidFill>
              </a:rPr>
              <a:t> i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writeConcern</a:t>
            </a:r>
            <a:r>
              <a:rPr b="1" lang="en" sz="1600">
                <a:solidFill>
                  <a:schemeClr val="dk1"/>
                </a:solidFill>
              </a:rPr>
              <a:t>: w: "majority", j: true</a:t>
            </a:r>
            <a:r>
              <a:rPr lang="en" sz="1600">
                <a:solidFill>
                  <a:schemeClr val="dk1"/>
                </a:solidFill>
              </a:rPr>
              <a:t>}}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Strategije za smanjenje write conflict-a (izbegavanje hotspotova, indeksiranje, retry, modelovanje podataka)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1" name="Google Shape;321;p48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Upravljanje vrućim tačkama i preporuke za optimizaciju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2" name="Google Shape;322;p48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645" y="0"/>
            <a:ext cx="51167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>
            <p:ph type="ctrTitle"/>
          </p:nvPr>
        </p:nvSpPr>
        <p:spPr>
          <a:xfrm>
            <a:off x="311700" y="208075"/>
            <a:ext cx="8520600" cy="321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High Availability rešenja u</a:t>
            </a:r>
            <a:r>
              <a:rPr b="1" lang="en" sz="4000">
                <a:solidFill>
                  <a:schemeClr val="lt1"/>
                </a:solidFill>
                <a:highlight>
                  <a:srgbClr val="36209B"/>
                </a:highlight>
                <a:latin typeface="Consolas"/>
                <a:ea typeface="Consolas"/>
                <a:cs typeface="Consolas"/>
                <a:sym typeface="Consolas"/>
              </a:rPr>
              <a:t> MongoDB</a:t>
            </a:r>
            <a:r>
              <a:rPr b="1" lang="en" sz="40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 bazi</a:t>
            </a:r>
            <a:endParaRPr b="1" sz="4000">
              <a:solidFill>
                <a:srgbClr val="36209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6209B"/>
                </a:solidFill>
                <a:latin typeface="Consolas"/>
                <a:ea typeface="Consolas"/>
                <a:cs typeface="Consolas"/>
                <a:sym typeface="Consolas"/>
              </a:rPr>
              <a:t>podataka</a:t>
            </a:r>
            <a:endParaRPr b="1" sz="4000">
              <a:solidFill>
                <a:srgbClr val="36209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311700" y="3932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36209B"/>
                </a:highlight>
                <a:latin typeface="Consolas"/>
                <a:ea typeface="Consolas"/>
                <a:cs typeface="Consolas"/>
                <a:sym typeface="Consolas"/>
              </a:rPr>
              <a:t>Anastasija Savov, 1924</a:t>
            </a:r>
            <a:endParaRPr>
              <a:solidFill>
                <a:schemeClr val="lt1"/>
              </a:solidFill>
              <a:highlight>
                <a:srgbClr val="36209B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>
            <p:ph idx="1" type="body"/>
          </p:nvPr>
        </p:nvSpPr>
        <p:spPr>
          <a:xfrm>
            <a:off x="311700" y="1452125"/>
            <a:ext cx="8520600" cy="30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Visoka dostupnost = sposobnost sistema da radi bez prekida čak i pri kvarovima. Ključne metrike: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RTO </a:t>
            </a:r>
            <a:r>
              <a:rPr lang="en" sz="1600">
                <a:solidFill>
                  <a:schemeClr val="dk1"/>
                </a:solidFill>
              </a:rPr>
              <a:t>- maksimalno prihvatljivo vreme oporavka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RPO </a:t>
            </a:r>
            <a:r>
              <a:rPr lang="en" sz="1600">
                <a:solidFill>
                  <a:schemeClr val="dk1"/>
                </a:solidFill>
              </a:rPr>
              <a:t>- maksimalni prihvatljivi gubitak podataka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MTTR / MTBF</a:t>
            </a:r>
            <a:r>
              <a:rPr lang="en" sz="1600">
                <a:solidFill>
                  <a:schemeClr val="dk1"/>
                </a:solidFill>
              </a:rPr>
              <a:t> - prosečno vreme oporavka / između kvarova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MongoDB postiže HA kroz: </a:t>
            </a:r>
            <a:r>
              <a:rPr b="1" lang="en" sz="1600">
                <a:solidFill>
                  <a:schemeClr val="dk1"/>
                </a:solidFill>
              </a:rPr>
              <a:t>replica sets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b="1" lang="en" sz="1600">
                <a:solidFill>
                  <a:schemeClr val="dk1"/>
                </a:solidFill>
              </a:rPr>
              <a:t>sharding</a:t>
            </a:r>
            <a:r>
              <a:rPr lang="en" sz="1600">
                <a:solidFill>
                  <a:schemeClr val="dk1"/>
                </a:solidFill>
              </a:rPr>
              <a:t>, automatski </a:t>
            </a:r>
            <a:r>
              <a:rPr b="1" lang="en" sz="1600">
                <a:solidFill>
                  <a:schemeClr val="dk1"/>
                </a:solidFill>
              </a:rPr>
              <a:t>failover </a:t>
            </a:r>
            <a:r>
              <a:rPr lang="en" sz="1600">
                <a:solidFill>
                  <a:schemeClr val="dk1"/>
                </a:solidFill>
              </a:rPr>
              <a:t>i konfigurabilne mehanizme konzistentnosti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9" name="Google Shape;339;p51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Uvod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p51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2"/>
          <p:cNvSpPr txBox="1"/>
          <p:nvPr>
            <p:ph idx="1" type="body"/>
          </p:nvPr>
        </p:nvSpPr>
        <p:spPr>
          <a:xfrm>
            <a:off x="311700" y="1452125"/>
            <a:ext cx="8520600" cy="30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"Broj devetki": 99,9%</a:t>
            </a:r>
            <a:r>
              <a:rPr lang="en" sz="1600">
                <a:solidFill>
                  <a:schemeClr val="dk1"/>
                </a:solidFill>
              </a:rPr>
              <a:t> = 8,7h prekida/god; </a:t>
            </a:r>
            <a:r>
              <a:rPr b="1" lang="en" sz="1600">
                <a:solidFill>
                  <a:schemeClr val="dk1"/>
                </a:solidFill>
              </a:rPr>
              <a:t>99,999% </a:t>
            </a:r>
            <a:r>
              <a:rPr lang="en" sz="1600">
                <a:solidFill>
                  <a:schemeClr val="dk1"/>
                </a:solidFill>
              </a:rPr>
              <a:t>= 5,25 min/god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Eliminacija </a:t>
            </a:r>
            <a:r>
              <a:rPr b="1" lang="en" sz="1600">
                <a:solidFill>
                  <a:schemeClr val="dk1"/>
                </a:solidFill>
              </a:rPr>
              <a:t>SPOF </a:t>
            </a:r>
            <a:r>
              <a:rPr lang="en" sz="1600">
                <a:solidFill>
                  <a:schemeClr val="dk1"/>
                </a:solidFill>
              </a:rPr>
              <a:t>(Single Points of Failure) kroz </a:t>
            </a:r>
            <a:r>
              <a:rPr b="1" lang="en" sz="1600">
                <a:solidFill>
                  <a:schemeClr val="dk1"/>
                </a:solidFill>
              </a:rPr>
              <a:t>redundantnost podataka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CAP teorema</a:t>
            </a:r>
            <a:r>
              <a:rPr lang="en" sz="1600">
                <a:solidFill>
                  <a:schemeClr val="dk1"/>
                </a:solidFill>
              </a:rPr>
              <a:t>: MongoDB bira CP (Consistency + Partition Tolerance), ali nudi Read/Write Concern za balans izmedju konzistentnosti i dostupnosti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Replikacija</a:t>
            </a:r>
            <a:r>
              <a:rPr lang="en" sz="1600">
                <a:solidFill>
                  <a:schemeClr val="dk1"/>
                </a:solidFill>
              </a:rPr>
              <a:t>: povećava dostupnost + distribuira opterećenje čitanja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46" name="Google Shape;346;p52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Osnove visoke dostupnosti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7" name="Google Shape;347;p52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53"/>
          <p:cNvPicPr preferRelativeResize="0"/>
          <p:nvPr/>
        </p:nvPicPr>
        <p:blipFill rotWithShape="1">
          <a:blip r:embed="rId3">
            <a:alphaModFix/>
          </a:blip>
          <a:srcRect b="31993" l="56708" r="0" t="25910"/>
          <a:stretch/>
        </p:blipFill>
        <p:spPr>
          <a:xfrm>
            <a:off x="5149975" y="208075"/>
            <a:ext cx="3917299" cy="180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3"/>
          <p:cNvSpPr txBox="1"/>
          <p:nvPr>
            <p:ph idx="1" type="body"/>
          </p:nvPr>
        </p:nvSpPr>
        <p:spPr>
          <a:xfrm>
            <a:off x="311700" y="1975925"/>
            <a:ext cx="84177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Osnovna jedinica: skup </a:t>
            </a:r>
            <a:r>
              <a:rPr b="1" lang="en" sz="1600">
                <a:solidFill>
                  <a:schemeClr val="dk1"/>
                </a:solidFill>
              </a:rPr>
              <a:t>mongod </a:t>
            </a:r>
            <a:r>
              <a:rPr lang="en" sz="1600">
                <a:solidFill>
                  <a:schemeClr val="dk1"/>
                </a:solidFill>
              </a:rPr>
              <a:t>instanci koje čuvaju iste podatke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Tipovi članova: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Primarni </a:t>
            </a:r>
            <a:r>
              <a:rPr lang="en" sz="1600">
                <a:solidFill>
                  <a:schemeClr val="dk1"/>
                </a:solidFill>
              </a:rPr>
              <a:t>- jedini prima write operacije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Sekundarni </a:t>
            </a:r>
            <a:r>
              <a:rPr lang="en" sz="1600">
                <a:solidFill>
                  <a:schemeClr val="dk1"/>
                </a:solidFill>
              </a:rPr>
              <a:t>- replikuje oplog i primenjuje na sopstvenom skupu podataka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Arbitar </a:t>
            </a:r>
            <a:r>
              <a:rPr lang="en" sz="1600">
                <a:solidFill>
                  <a:schemeClr val="dk1"/>
                </a:solidFill>
              </a:rPr>
              <a:t>- samo glasa, ne čuva podatke (jeftina redundantnost)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Oplog </a:t>
            </a:r>
            <a:r>
              <a:rPr lang="en" sz="1600">
                <a:solidFill>
                  <a:schemeClr val="dk1"/>
                </a:solidFill>
              </a:rPr>
              <a:t>- </a:t>
            </a:r>
            <a:r>
              <a:rPr b="1" lang="en" sz="1600">
                <a:solidFill>
                  <a:schemeClr val="dk1"/>
                </a:solidFill>
              </a:rPr>
              <a:t>WAL (write-ahead log) </a:t>
            </a:r>
            <a:r>
              <a:rPr lang="en" sz="1600">
                <a:solidFill>
                  <a:schemeClr val="dk1"/>
                </a:solidFill>
              </a:rPr>
              <a:t>kog sekundarni čvorovi prate asinhrono; idempotentnost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Minimum za produkcijsko okruženje:</a:t>
            </a:r>
            <a:r>
              <a:rPr b="1" lang="en" sz="1600">
                <a:solidFill>
                  <a:schemeClr val="dk1"/>
                </a:solidFill>
              </a:rPr>
              <a:t> 3 člana </a:t>
            </a:r>
            <a:r>
              <a:rPr lang="en" sz="1600">
                <a:solidFill>
                  <a:schemeClr val="dk1"/>
                </a:solidFill>
              </a:rPr>
              <a:t>(2 punopravna + arbitar, ili 3 punopravna)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Parametri: priority, votes, hidden, secondaryDelaySecs, tags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54" name="Google Shape;354;p53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F7DB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Šta su replica setovi?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53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F7DB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Neuspelo dodavanje arbitra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1" name="Google Shape;361;p54" title="quorum_fai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78284"/>
            <a:ext cx="9144000" cy="1164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55" title="secondary_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1914372"/>
            <a:ext cx="4393000" cy="32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55" title="secondary_f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400" y="0"/>
            <a:ext cx="478880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5"/>
          <p:cNvSpPr txBox="1"/>
          <p:nvPr/>
        </p:nvSpPr>
        <p:spPr>
          <a:xfrm>
            <a:off x="282925" y="419050"/>
            <a:ext cx="34266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Pokretanje sekundarnog čvora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69" name="Google Shape;369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8800" y="3126998"/>
            <a:ext cx="6780400" cy="10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213" y="544488"/>
            <a:ext cx="505777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Pokretanje arbitra</a:t>
            </a:r>
            <a:endParaRPr b="1" sz="1820"/>
          </a:p>
        </p:txBody>
      </p:sp>
      <p:pic>
        <p:nvPicPr>
          <p:cNvPr id="376" name="Google Shape;376;p56" title="arbitar_r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275" y="1907575"/>
            <a:ext cx="51625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7" title="autofailo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0050" y="2441525"/>
            <a:ext cx="3518674" cy="25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7"/>
          <p:cNvSpPr txBox="1"/>
          <p:nvPr>
            <p:ph idx="1" type="body"/>
          </p:nvPr>
        </p:nvSpPr>
        <p:spPr>
          <a:xfrm>
            <a:off x="231675" y="1255700"/>
            <a:ext cx="6206100" cy="30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Heartbeat </a:t>
            </a:r>
            <a:r>
              <a:rPr lang="en" sz="1600">
                <a:solidFill>
                  <a:schemeClr val="dk1"/>
                </a:solidFill>
              </a:rPr>
              <a:t>svake 2 sekunde; ako primarni ne odgovori za 10s → pokretanje izbora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Modifikovani </a:t>
            </a:r>
            <a:r>
              <a:rPr b="1" lang="en" sz="1600">
                <a:solidFill>
                  <a:schemeClr val="dk1"/>
                </a:solidFill>
              </a:rPr>
              <a:t>Raft algoritam</a:t>
            </a:r>
            <a:r>
              <a:rPr lang="en" sz="1600">
                <a:solidFill>
                  <a:schemeClr val="dk1"/>
                </a:solidFill>
              </a:rPr>
              <a:t>: kandidat traži glasove → pobeđuje ko ima najažurniji oplog i apsolutnu većinu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Tipično vreme failover-a:</a:t>
            </a:r>
            <a:r>
              <a:rPr b="1" lang="en" sz="1600">
                <a:solidFill>
                  <a:schemeClr val="dk1"/>
                </a:solidFill>
              </a:rPr>
              <a:t> 10–30</a:t>
            </a:r>
            <a:r>
              <a:rPr lang="en" sz="1600">
                <a:solidFill>
                  <a:schemeClr val="dk1"/>
                </a:solidFill>
              </a:rPr>
              <a:t> sekundi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Read Preference: primary / primaryPreferred / secondary / secondaryPreferred / nearest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83" name="Google Shape;383;p57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5CA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Automatski failover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57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5CA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58" title="primary_initial_Second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7550"/>
            <a:ext cx="4035375" cy="294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8" title="secondary_initial_prima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175" y="152400"/>
            <a:ext cx="4651426" cy="286624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8"/>
          <p:cNvSpPr txBox="1"/>
          <p:nvPr/>
        </p:nvSpPr>
        <p:spPr>
          <a:xfrm>
            <a:off x="530275" y="1283650"/>
            <a:ext cx="33684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Inicijalno sekundarni čvor sada postaje primarni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" name="Google Shape;392;p58"/>
          <p:cNvSpPr txBox="1"/>
          <p:nvPr/>
        </p:nvSpPr>
        <p:spPr>
          <a:xfrm>
            <a:off x="5040475" y="3116600"/>
            <a:ext cx="33684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Prethodno primarni čvor nakon oporavka postaje sekundarni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" name="Google Shape;393;p58"/>
          <p:cNvSpPr txBox="1"/>
          <p:nvPr/>
        </p:nvSpPr>
        <p:spPr>
          <a:xfrm>
            <a:off x="101850" y="152400"/>
            <a:ext cx="3717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Preuzimanje uloge primarnog replica set-a</a:t>
            </a:r>
            <a:endParaRPr b="1" sz="18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9"/>
          <p:cNvSpPr txBox="1"/>
          <p:nvPr>
            <p:ph idx="1" type="body"/>
          </p:nvPr>
        </p:nvSpPr>
        <p:spPr>
          <a:xfrm>
            <a:off x="137100" y="887625"/>
            <a:ext cx="8520600" cy="30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Horizontalna skalabilnost</a:t>
            </a:r>
            <a:r>
              <a:rPr lang="en" sz="1600">
                <a:solidFill>
                  <a:schemeClr val="dk1"/>
                </a:solidFill>
              </a:rPr>
              <a:t>: podaci se distribuiraju na više </a:t>
            </a:r>
            <a:r>
              <a:rPr b="1" lang="en" sz="1600">
                <a:solidFill>
                  <a:schemeClr val="dk1"/>
                </a:solidFill>
              </a:rPr>
              <a:t>shard</a:t>
            </a:r>
            <a:r>
              <a:rPr lang="en" sz="1600">
                <a:solidFill>
                  <a:schemeClr val="dk1"/>
                </a:solidFill>
              </a:rPr>
              <a:t>-ova (svaki shard se implementira kao replica set)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Komponente: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Shard </a:t>
            </a:r>
            <a:r>
              <a:rPr lang="en" sz="1600">
                <a:solidFill>
                  <a:schemeClr val="dk1"/>
                </a:solidFill>
              </a:rPr>
              <a:t>- čuva podskup podataka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Config Server</a:t>
            </a:r>
            <a:r>
              <a:rPr lang="en" sz="1600">
                <a:solidFill>
                  <a:schemeClr val="dk1"/>
                </a:solidFill>
              </a:rPr>
              <a:t> (CSRS, 3 člana) - metapodaci o chunk-ovima i shardovima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mongos </a:t>
            </a:r>
            <a:r>
              <a:rPr lang="en" sz="1600">
                <a:solidFill>
                  <a:schemeClr val="dk1"/>
                </a:solidFill>
              </a:rPr>
              <a:t>- query router, može biti više instanci za HA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Shard ključ</a:t>
            </a:r>
            <a:r>
              <a:rPr lang="en" sz="1600">
                <a:solidFill>
                  <a:schemeClr val="dk1"/>
                </a:solidFill>
              </a:rPr>
              <a:t> - visoka kardinalnost, niska učestalost, bez monotone vrednosti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Heširani shard ključ</a:t>
            </a:r>
            <a:r>
              <a:rPr lang="en" sz="1600">
                <a:solidFill>
                  <a:schemeClr val="dk1"/>
                </a:solidFill>
              </a:rPr>
              <a:t> → ravnomerna distribucija pisanja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Balancer </a:t>
            </a:r>
            <a:r>
              <a:rPr lang="en" sz="1600">
                <a:solidFill>
                  <a:schemeClr val="dk1"/>
                </a:solidFill>
              </a:rPr>
              <a:t>- automatski</a:t>
            </a:r>
            <a:r>
              <a:rPr lang="en" sz="1600">
                <a:solidFill>
                  <a:schemeClr val="dk1"/>
                </a:solidFill>
              </a:rPr>
              <a:t> pomera chunk-ove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Targeted </a:t>
            </a:r>
            <a:r>
              <a:rPr lang="en" sz="1600">
                <a:solidFill>
                  <a:schemeClr val="dk1"/>
                </a:solidFill>
              </a:rPr>
              <a:t>upiti (sadrže shard ključ) - efikasni; </a:t>
            </a:r>
            <a:r>
              <a:rPr b="1" lang="en" sz="1600">
                <a:solidFill>
                  <a:schemeClr val="dk1"/>
                </a:solidFill>
              </a:rPr>
              <a:t>Broadcast </a:t>
            </a:r>
            <a:r>
              <a:rPr lang="en" sz="1600">
                <a:solidFill>
                  <a:schemeClr val="dk1"/>
                </a:solidFill>
              </a:rPr>
              <a:t>(scatter-gather) - skupi, treba minimizovati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99" name="Google Shape;399;p59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	Shardovani klasteri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59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59" title="balanc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038" y="3609963"/>
            <a:ext cx="4467225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Arhitektura shard-ova</a:t>
            </a:r>
            <a:endParaRPr/>
          </a:p>
        </p:txBody>
      </p:sp>
      <p:pic>
        <p:nvPicPr>
          <p:cNvPr id="407" name="Google Shape;407;p60" title="sh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275" y="1197900"/>
            <a:ext cx="4745474" cy="332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Dodavanje prvog shard-a i punjenje podacima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3" name="Google Shape;413;p61" title="nakon dodavanja podatak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050" y="1578613"/>
            <a:ext cx="5095875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Dodavanje drugog shard-a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9" name="Google Shape;419;p62" title="dva_shar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1654225"/>
            <a:ext cx="5210175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3"/>
          <p:cNvSpPr txBox="1"/>
          <p:nvPr>
            <p:ph type="title"/>
          </p:nvPr>
        </p:nvSpPr>
        <p:spPr>
          <a:xfrm>
            <a:off x="362625" y="1944450"/>
            <a:ext cx="39507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Distribucija podataka nakon ukljucivanja drugog shard-a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5" name="Google Shape;425;p63" title="distribucija podataka sh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713" y="307837"/>
            <a:ext cx="4128775" cy="46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64" title="replikacij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6575" y="33475"/>
            <a:ext cx="2300800" cy="19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4"/>
          <p:cNvSpPr txBox="1"/>
          <p:nvPr>
            <p:ph idx="1" type="body"/>
          </p:nvPr>
        </p:nvSpPr>
        <p:spPr>
          <a:xfrm>
            <a:off x="340825" y="1139275"/>
            <a:ext cx="6601200" cy="22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Replikacija </a:t>
            </a:r>
            <a:r>
              <a:rPr lang="en" sz="1600">
                <a:solidFill>
                  <a:schemeClr val="dk1"/>
                </a:solidFill>
              </a:rPr>
              <a:t>ne zamenjuje backup - štiti od kvarova hardvera, ne od slučajnog brisanja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mongodump </a:t>
            </a:r>
            <a:r>
              <a:rPr lang="en" sz="1600">
                <a:solidFill>
                  <a:schemeClr val="dk1"/>
                </a:solidFill>
              </a:rPr>
              <a:t>/ </a:t>
            </a:r>
            <a:r>
              <a:rPr b="1" lang="en" sz="1600">
                <a:solidFill>
                  <a:schemeClr val="dk1"/>
                </a:solidFill>
              </a:rPr>
              <a:t>mongorestore </a:t>
            </a:r>
            <a:r>
              <a:rPr lang="en" sz="1600">
                <a:solidFill>
                  <a:schemeClr val="dk1"/>
                </a:solidFill>
              </a:rPr>
              <a:t>- logički backup (BSON); pogodan za manje baze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Point-in-Time Recovery</a:t>
            </a:r>
            <a:r>
              <a:rPr lang="en" sz="1600">
                <a:solidFill>
                  <a:schemeClr val="dk1"/>
                </a:solidFill>
              </a:rPr>
              <a:t> (PITR): periodični filesystem snapshot + čuvanje oploga koji pokriva period izmedju snapshotova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Odloženi sekundarni čvor (secondaryDelaySecs) - "vremenska mašina"; zaštita od logičkih grešaka; daje prozor za reakciju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32" name="Google Shape;432;p64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5CA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Backup i strategije oporavka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" name="Google Shape;433;p64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5CA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64" title="backup_logs.png"/>
          <p:cNvPicPr preferRelativeResize="0"/>
          <p:nvPr/>
        </p:nvPicPr>
        <p:blipFill rotWithShape="1">
          <a:blip r:embed="rId4">
            <a:alphaModFix/>
          </a:blip>
          <a:srcRect b="2719" l="0" r="11933" t="60134"/>
          <a:stretch/>
        </p:blipFill>
        <p:spPr>
          <a:xfrm>
            <a:off x="545625" y="3652825"/>
            <a:ext cx="8052749" cy="13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5"/>
          <p:cNvSpPr txBox="1"/>
          <p:nvPr>
            <p:ph idx="1" type="body"/>
          </p:nvPr>
        </p:nvSpPr>
        <p:spPr>
          <a:xfrm>
            <a:off x="311700" y="1124725"/>
            <a:ext cx="8520600" cy="30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Replica set rasprostranjen na više data centara - zaštita od prirodnih katastrofa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Asimetrična konfiguracija:</a:t>
            </a:r>
            <a:r>
              <a:rPr b="1" lang="en" sz="1600">
                <a:solidFill>
                  <a:schemeClr val="dk1"/>
                </a:solidFill>
              </a:rPr>
              <a:t> 2+1 čvor</a:t>
            </a:r>
            <a:r>
              <a:rPr lang="en" sz="1600">
                <a:solidFill>
                  <a:schemeClr val="dk1"/>
                </a:solidFill>
              </a:rPr>
              <a:t> → data centar A (2 clana) može preuzeti bez data centra B, ali ne obrnuto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Simetricna konfiguracija: </a:t>
            </a:r>
            <a:r>
              <a:rPr b="1" lang="en" sz="1600">
                <a:solidFill>
                  <a:schemeClr val="dk1"/>
                </a:solidFill>
              </a:rPr>
              <a:t>1+1 + arbitar</a:t>
            </a:r>
            <a:r>
              <a:rPr lang="en" sz="1600">
                <a:solidFill>
                  <a:schemeClr val="dk1"/>
                </a:solidFill>
              </a:rPr>
              <a:t> na trećoj lokaciji → oba data centra mogu formirati </a:t>
            </a:r>
            <a:r>
              <a:rPr b="1" lang="en" sz="1600">
                <a:solidFill>
                  <a:schemeClr val="dk1"/>
                </a:solidFill>
              </a:rPr>
              <a:t>kvorum </a:t>
            </a:r>
            <a:r>
              <a:rPr lang="en" sz="1600">
                <a:solidFill>
                  <a:schemeClr val="dk1"/>
                </a:solidFill>
              </a:rPr>
              <a:t>bez onog drugog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Zonal tagging</a:t>
            </a:r>
            <a:r>
              <a:rPr lang="en" sz="1600">
                <a:solidFill>
                  <a:schemeClr val="dk1"/>
                </a:solidFill>
              </a:rPr>
              <a:t> - aplikacije čitaju sa lokalnog sekundarnog čvora → manja latencija; pisanje uvek na primarnom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40" name="Google Shape;440;p65"/>
          <p:cNvSpPr/>
          <p:nvPr/>
        </p:nvSpPr>
        <p:spPr>
          <a:xfrm>
            <a:off x="0" y="0"/>
            <a:ext cx="3665700" cy="792900"/>
          </a:xfrm>
          <a:prstGeom prst="homePlate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Geografski distribuirani deployment</a:t>
            </a:r>
            <a:endParaRPr b="1"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65"/>
          <p:cNvSpPr/>
          <p:nvPr/>
        </p:nvSpPr>
        <p:spPr>
          <a:xfrm>
            <a:off x="3702225" y="0"/>
            <a:ext cx="829200" cy="792900"/>
          </a:xfrm>
          <a:prstGeom prst="chevron">
            <a:avLst>
              <a:gd fmla="val 50000" name="adj"/>
            </a:avLst>
          </a:prstGeom>
          <a:solidFill>
            <a:srgbClr val="362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2" name="Google Shape;442;p65" title="status_geolokacija_del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36153"/>
            <a:ext cx="9143999" cy="1207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